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d64e170426a49dd" /><Relationship Type="http://schemas.openxmlformats.org/package/2006/relationships/metadata/core-properties" Target="/docProps/core.xml" Id="Re9306f55d69f454a" /><Relationship Type="http://schemas.openxmlformats.org/officeDocument/2006/relationships/extended-properties" Target="/docProps/app.xml" Id="Ra37f7f017c124580" /><Relationship Type="http://schemas.openxmlformats.org/officeDocument/2006/relationships/custom-properties" Target="/docProps/custom.xml" Id="R6548802eaf9140f7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1c21aadf561b49f6"/>
  </p:sldMasterIdLst>
  <p:sldIdLst>
    <p:sldId id="256" r:id="Ra23537d6f23c45b8"/>
    <p:sldId id="257" r:id="R4bde06b03ef84348"/>
    <p:sldId id="258" r:id="R2bb15e3f6f3c4e13"/>
    <p:sldId id="259" r:id="R0f4e47aa4a234211"/>
    <p:sldId id="260" r:id="Reb6542511ff645b3"/>
    <p:sldId id="261" r:id="Rfb9e40d2a82c436a"/>
    <p:sldId id="262" r:id="Ra87ed43179e34079"/>
    <p:sldId id="263" r:id="R24afe6b33eeb4bf8"/>
    <p:sldId id="264" r:id="Rb648717f5fc542aa"/>
    <p:sldId id="265" r:id="Rc4a9f842d43d4a14"/>
    <p:sldId id="266" r:id="R07bad71c44b54acb"/>
    <p:sldId id="267" r:id="R518333a8085340dd"/>
    <p:sldId id="268" r:id="R3a222b57d88b4bc7"/>
    <p:sldId id="269" r:id="R81131635a1934a79"/>
    <p:sldId id="270" r:id="R0db79942b5844820"/>
    <p:sldId id="271" r:id="Rbc5f07cfcf52479a"/>
    <p:sldId id="272" r:id="R39f8f9f550a44b7a"/>
    <p:sldId id="273" r:id="R7b64331fb03844de"/>
    <p:sldId id="274" r:id="R3b4fff33e6fd443d"/>
    <p:sldId id="275" r:id="Rc3536029c01a4f70"/>
    <p:sldId id="276" r:id="R3d7b53c3d3d1446c"/>
    <p:sldId id="277" r:id="R9fb5749abece4b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93ea12af97d4714" /><Relationship Type="http://schemas.openxmlformats.org/officeDocument/2006/relationships/viewProps" Target="/ppt/viewProps.xml" Id="Re8893622273a4dff" /><Relationship Type="http://schemas.openxmlformats.org/officeDocument/2006/relationships/slideMaster" Target="/ppt/slideMasters/slideMaster1.xml" Id="R1c21aadf561b49f6" /><Relationship Type="http://schemas.openxmlformats.org/officeDocument/2006/relationships/theme" Target="/ppt/slideMasters/theme/theme1.xml" Id="Rdd8b5683452947a0" /><Relationship Type="http://schemas.openxmlformats.org/officeDocument/2006/relationships/slide" Target="/ppt/slides/slide1.xml" Id="Ra23537d6f23c45b8" /><Relationship Type="http://schemas.openxmlformats.org/officeDocument/2006/relationships/slide" Target="/ppt/slides/slide2.xml" Id="R4bde06b03ef84348" /><Relationship Type="http://schemas.openxmlformats.org/officeDocument/2006/relationships/slide" Target="/ppt/slides/slide3.xml" Id="R2bb15e3f6f3c4e13" /><Relationship Type="http://schemas.openxmlformats.org/officeDocument/2006/relationships/slide" Target="/ppt/slides/slide4.xml" Id="R0f4e47aa4a234211" /><Relationship Type="http://schemas.openxmlformats.org/officeDocument/2006/relationships/slide" Target="/ppt/slides/slide5.xml" Id="Reb6542511ff645b3" /><Relationship Type="http://schemas.openxmlformats.org/officeDocument/2006/relationships/slide" Target="/ppt/slides/slide6.xml" Id="Rfb9e40d2a82c436a" /><Relationship Type="http://schemas.openxmlformats.org/officeDocument/2006/relationships/slide" Target="/ppt/slides/slide7.xml" Id="Ra87ed43179e34079" /><Relationship Type="http://schemas.openxmlformats.org/officeDocument/2006/relationships/slide" Target="/ppt/slides/slide8.xml" Id="R24afe6b33eeb4bf8" /><Relationship Type="http://schemas.openxmlformats.org/officeDocument/2006/relationships/slide" Target="/ppt/slides/slide9.xml" Id="Rb648717f5fc542aa" /><Relationship Type="http://schemas.openxmlformats.org/officeDocument/2006/relationships/slide" Target="/ppt/slides/slide10.xml" Id="Rc4a9f842d43d4a14" /><Relationship Type="http://schemas.openxmlformats.org/officeDocument/2006/relationships/slide" Target="/ppt/slides/slide11.xml" Id="R07bad71c44b54acb" /><Relationship Type="http://schemas.openxmlformats.org/officeDocument/2006/relationships/slide" Target="/ppt/slides/slide12.xml" Id="R518333a8085340dd" /><Relationship Type="http://schemas.openxmlformats.org/officeDocument/2006/relationships/slide" Target="/ppt/slides/slide13.xml" Id="R3a222b57d88b4bc7" /><Relationship Type="http://schemas.openxmlformats.org/officeDocument/2006/relationships/slide" Target="/ppt/slides/slide14.xml" Id="R81131635a1934a79" /><Relationship Type="http://schemas.openxmlformats.org/officeDocument/2006/relationships/slide" Target="/ppt/slides/slide15.xml" Id="R0db79942b5844820" /><Relationship Type="http://schemas.openxmlformats.org/officeDocument/2006/relationships/slide" Target="/ppt/slides/slide16.xml" Id="Rbc5f07cfcf52479a" /><Relationship Type="http://schemas.openxmlformats.org/officeDocument/2006/relationships/slide" Target="/ppt/slides/slide17.xml" Id="R39f8f9f550a44b7a" /><Relationship Type="http://schemas.openxmlformats.org/officeDocument/2006/relationships/slide" Target="/ppt/slides/slide18.xml" Id="R7b64331fb03844de" /><Relationship Type="http://schemas.openxmlformats.org/officeDocument/2006/relationships/slide" Target="/ppt/slides/slide19.xml" Id="R3b4fff33e6fd443d" /><Relationship Type="http://schemas.openxmlformats.org/officeDocument/2006/relationships/slide" Target="/ppt/slides/slide20.xml" Id="Rc3536029c01a4f70" /><Relationship Type="http://schemas.openxmlformats.org/officeDocument/2006/relationships/slide" Target="/ppt/slides/slide21.xml" Id="R3d7b53c3d3d1446c" /><Relationship Type="http://schemas.openxmlformats.org/officeDocument/2006/relationships/slide" Target="/ppt/slides/slide22.xml" Id="R9fb5749abece4b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a88304b604d3f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1dc73be77f0485b" /><Relationship Type="http://schemas.openxmlformats.org/officeDocument/2006/relationships/image" Target="/ppt/media/image2.png" Id="R11769d1dfa844286" /><Relationship Type="http://schemas.openxmlformats.org/officeDocument/2006/relationships/image" Target="/ppt/media/image3.png" Id="Re3d31bd01a6f4989" /><Relationship Type="http://schemas.microsoft.com/office/2007/relationships/hdphoto" Target="/ppt/slideMasters/udata/data.wdp" Id="R6c506dc85bbf440d" /><Relationship Type="http://schemas.microsoft.com/office/2007/relationships/hdphoto" Target="/ppt/slideMasters/udata/data2.wdp" Id="R4918289bf9d84019" /><Relationship Type="http://schemas.openxmlformats.org/officeDocument/2006/relationships/theme" Target="/ppt/slideMasters/theme/theme1.xml" Id="R736174e1db804dc6" /><Relationship Type="http://schemas.openxmlformats.org/officeDocument/2006/relationships/slideLayout" Target="/ppt/slideLayouts/slideLayout5.xml" Id="R36bb953025b94764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21dc73be77f0485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11769d1dfa844286">
            <a:extLst>
              <a:ext uri="{BEBA8EAE-BF5A-486C-A8C5-ECC9F3942E4B}">
                <a14:imgProps xmlns:a14="http://schemas.microsoft.com/office/drawing/2010/main">
                  <a14:imgLayer r:embed="R6c506dc85bbf440d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e3d31bd01a6f4989">
            <a:extLst>
              <a:ext uri="{BEBA8EAE-BF5A-486C-A8C5-ECC9F3942E4B}">
                <a14:imgProps xmlns:a14="http://schemas.microsoft.com/office/drawing/2010/main">
                  <a14:imgLayer r:embed="R4918289bf9d840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36bb953025b947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b0005d07dd33483a" /><Relationship Type="http://schemas.openxmlformats.org/officeDocument/2006/relationships/image" Target="/ppt/media/image5.png" Id="R4e6c90a542c64073" /><Relationship Type="http://schemas.microsoft.com/office/2007/relationships/hdphoto" Target="/ppt/slides/udata/data3.wdp" Id="Rd5874e2ee89047c9" /><Relationship Type="http://schemas.openxmlformats.org/officeDocument/2006/relationships/slideLayout" Target="/ppt/slideLayouts/slideLayout5.xml" Id="R642b99e26c5c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5f957789a7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aae9597367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d7b469b679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595dbe36606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d8432a121743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797d733a664c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cb4f7886ca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212efe4dee49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3426a19f2e443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5efc24811b4d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a2eeb4f3a94960" /><Relationship Type="http://schemas.openxmlformats.org/officeDocument/2006/relationships/hyperlink" Target="https://kafka.apache.org/documentation/" TargetMode="External" Id="rcId4e70202ba7dc4a20" /><Relationship Type="http://schemas.openxmlformats.org/officeDocument/2006/relationships/hyperlink" Target="https://docs.trychroma.com/" TargetMode="External" Id="rcId0ae1d40ac252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4.png" Id="R5e94d17a211b4400" /><Relationship Type="http://schemas.openxmlformats.org/officeDocument/2006/relationships/image" Target="/ppt/media/image5.png" Id="Rb0936cc99cfc4025" /><Relationship Type="http://schemas.microsoft.com/office/2007/relationships/hdphoto" Target="/ppt/slides/udata/data4.wdp" Id="Ra8d7c959b0ae4841" /><Relationship Type="http://schemas.openxmlformats.org/officeDocument/2006/relationships/slideLayout" Target="/ppt/slideLayouts/slideLayout5.xml" Id="Rd55643415d2642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870674c8504a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866a41398746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99080c9aea43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aaa89717954f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c7e77281f649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6d4b426d75240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758540505349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6f33328e0640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358156bf5b4e26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Hybrid Predictive-Generative Customer Retention: Integrating Tabular Churn Prediction with RAG-Powered Knowledge Retrieval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Swapnadeep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Das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b0005d07dd33483a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4e6c90a542c64073">
            <a:extLst>
              <a:ext uri="{BEBA8EAE-BF5A-486C-A8C5-ECC9F3942E4B}">
                <a14:imgProps xmlns:a14="http://schemas.microsoft.com/office/drawing/2010/main">
                  <a14:imgLayer r:embed="Rd5874e2ee89047c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Customer churn is a critical challenge in the telecom industry, directly impacting revenue.</a:t>
            </a:r>
          </a:p>
          <a:p>
            <a:pPr lvl="0"/>
            <a:r>
              <a:rPr lang="en-IN" sz="2400" dirty="0"/>
              <a:t>Traditional churn prediction models are static and lack real-time intervention capabilities.</a:t>
            </a:r>
          </a:p>
          <a:p>
            <a:pPr lvl="0"/>
            <a:r>
              <a:rPr lang="en-IN" sz="2400" dirty="0"/>
              <a:t>This project introduces a dynamic, real-time streaming platform that not only predicts churn on the fly but also explains the reasoning and suggests immediate retention strategies using Generative AI.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To deploy a robust machine learning pipeline for real-time churn prediction.</a:t>
            </a:r>
          </a:p>
          <a:p>
            <a:pPr lvl="0"/>
            <a:r>
              <a:rPr lang="en-IN" sz="2400" dirty="0"/>
              <a:t>To integrate a Retrieval-Augmented Generation (RAG) system for automated, policy-compliant retention offers.</a:t>
            </a:r>
          </a:p>
          <a:p>
            <a:pPr lvl="0"/>
            <a:r>
              <a:rPr lang="en-IN" sz="2400" dirty="0"/>
              <a:t>To implement Explainable AI (XAI) for transparent model decision-making.</a:t>
            </a:r>
          </a:p>
          <a:p>
            <a:pPr lvl="0"/>
            <a:r>
              <a:rPr lang="en-IN" sz="2400" dirty="0"/>
              <a:t>To build an interactive, live telemetry dashboard to monitor system performance and customer risk in real-time.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Delayed Action: Batch-processing churn models identify at-risk customers too late, missing the window for effective retention.</a:t>
            </a:r>
          </a:p>
          <a:p>
            <a:pPr lvl="0"/>
            <a:r>
              <a:rPr lang="en-IN" sz="2400" dirty="0"/>
              <a:t>Lack of Transparency: Complex ML models act as "black boxes," making it difficult for stakeholders to understand why a customer is classified as high-risk.</a:t>
            </a:r>
          </a:p>
          <a:p>
            <a:pPr lvl="0"/>
            <a:r>
              <a:rPr lang="en-IN" sz="2400" dirty="0"/>
              <a:t>Generic Offers: Standard retention strategies are often untargeted and fail to address specific customer profiles and company policies effectively.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Data Streaming: Simulated live customer telemetry data using Apache Kafka (Producer/Consumer architecture).</a:t>
            </a:r>
          </a:p>
          <a:p>
            <a:pPr lvl="0"/>
            <a:r>
              <a:rPr lang="en-IN" sz="2400" dirty="0"/>
              <a:t>Machine Learning Pipeline: Trained an </a:t>
            </a:r>
            <a:r>
              <a:rPr lang="en-IN" sz="2400" dirty="0" err="1"/>
              <a:t>XGBoost</a:t>
            </a:r>
            <a:r>
              <a:rPr lang="en-IN" sz="2400" dirty="0"/>
              <a:t> classifier integrated with preprocessing steps, achieving a high ROC-AUC score.</a:t>
            </a:r>
          </a:p>
          <a:p>
            <a:pPr lvl="0"/>
            <a:r>
              <a:rPr lang="en-IN" sz="2400" dirty="0"/>
              <a:t>Explainable AI (XAI): Implemented SHAP and Partial Dependence Plots (PDP) to decode feature impacts on churn probabilities.</a:t>
            </a:r>
          </a:p>
          <a:p>
            <a:pPr lvl="0"/>
            <a:r>
              <a:rPr lang="en-IN" sz="2400" dirty="0"/>
              <a:t>RAG Integration: Utilized a local </a:t>
            </a:r>
            <a:r>
              <a:rPr lang="en-IN" sz="2400" dirty="0" err="1"/>
              <a:t>ChromaDB</a:t>
            </a:r>
            <a:r>
              <a:rPr lang="en-IN" sz="2400" dirty="0"/>
              <a:t> vector store and Llama 3 (via </a:t>
            </a:r>
            <a:r>
              <a:rPr lang="en-IN" sz="2400" dirty="0" err="1"/>
              <a:t>Ollama</a:t>
            </a:r>
            <a:r>
              <a:rPr lang="en-IN" sz="2400" dirty="0"/>
              <a:t>) to generate context-aware retention offers based on enterprise policies.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Algorithms: </a:t>
            </a:r>
            <a:r>
              <a:rPr lang="en-IN" sz="2400" dirty="0" err="1"/>
              <a:t>XGBoost</a:t>
            </a:r>
            <a:r>
              <a:rPr lang="en-IN" sz="2400" dirty="0"/>
              <a:t> Classifier, </a:t>
            </a:r>
            <a:r>
              <a:rPr lang="en-IN" sz="2400" dirty="0" err="1"/>
              <a:t>MiniBatchKMeans</a:t>
            </a:r>
            <a:r>
              <a:rPr lang="en-IN" sz="2400" dirty="0"/>
              <a:t> (for real-time clustering/segmentation).</a:t>
            </a:r>
          </a:p>
          <a:p>
            <a:pPr lvl="0"/>
            <a:r>
              <a:rPr lang="en-IN" sz="2400" dirty="0"/>
              <a:t>XAI Techniques: SHAP (</a:t>
            </a:r>
            <a:r>
              <a:rPr lang="en-IN" sz="2400" dirty="0" err="1"/>
              <a:t>SHapley</a:t>
            </a:r>
            <a:r>
              <a:rPr lang="en-IN" sz="2400" dirty="0"/>
              <a:t> Additive </a:t>
            </a:r>
            <a:r>
              <a:rPr lang="en-IN" sz="2400" dirty="0" err="1"/>
              <a:t>exPlanations</a:t>
            </a:r>
            <a:r>
              <a:rPr lang="en-IN" sz="2400" dirty="0"/>
              <a:t>), PDP.</a:t>
            </a:r>
          </a:p>
          <a:p>
            <a:pPr lvl="0"/>
            <a:r>
              <a:rPr lang="en-IN" sz="2400" dirty="0"/>
              <a:t>Data Streaming &amp; Deployment: Apache Kafka, Docker (for Kafka environment), </a:t>
            </a:r>
            <a:r>
              <a:rPr lang="en-IN" sz="2400" dirty="0" err="1"/>
              <a:t>FastAPI</a:t>
            </a:r>
            <a:r>
              <a:rPr lang="en-IN" sz="2400" dirty="0"/>
              <a:t> (backend).</a:t>
            </a:r>
          </a:p>
          <a:p>
            <a:pPr lvl="0"/>
            <a:r>
              <a:rPr lang="en-IN" sz="2400" dirty="0"/>
              <a:t>Generative AI &amp; DB: Llama 3 (</a:t>
            </a:r>
            <a:r>
              <a:rPr lang="en-IN" sz="2400" dirty="0" err="1"/>
              <a:t>Ollama</a:t>
            </a:r>
            <a:r>
              <a:rPr lang="en-IN" sz="2400" dirty="0"/>
              <a:t>), </a:t>
            </a:r>
            <a:r>
              <a:rPr lang="en-IN" sz="2400" dirty="0" err="1"/>
              <a:t>ChromaDB</a:t>
            </a:r>
            <a:r>
              <a:rPr lang="en-IN" sz="2400" dirty="0"/>
              <a:t> (Vector Database), Nomic-embed-text.</a:t>
            </a:r>
          </a:p>
          <a:p>
            <a:pPr lvl="0"/>
            <a:r>
              <a:rPr lang="en-IN" sz="2400" dirty="0"/>
              <a:t>Frontend: HTML/JS/CSS with Chart.js for live dashboarding.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Model Performance: The </a:t>
            </a:r>
            <a:r>
              <a:rPr lang="en-IN" sz="2400" dirty="0" err="1"/>
              <a:t>XGBoost</a:t>
            </a:r>
            <a:r>
              <a:rPr lang="en-IN" sz="2400" dirty="0"/>
              <a:t> pipeline successfully classifies churn with robust accuracy and ROC-AUC metrics.</a:t>
            </a:r>
          </a:p>
          <a:p>
            <a:pPr lvl="0"/>
            <a:r>
              <a:rPr lang="en-IN" sz="2400" dirty="0"/>
              <a:t>XAI Insights: SHAP analysis revealed that '</a:t>
            </a:r>
            <a:r>
              <a:rPr lang="en-IN" sz="2400" dirty="0" err="1"/>
              <a:t>MonthlyCharges</a:t>
            </a:r>
            <a:r>
              <a:rPr lang="en-IN" sz="2400" dirty="0"/>
              <a:t>' and 'Contract (Month-to-month)' are primary drivers of churn, while higher 'Tenure' reduces churn risk.</a:t>
            </a:r>
          </a:p>
          <a:p>
            <a:pPr lvl="0"/>
            <a:r>
              <a:rPr lang="en-IN" sz="2400" dirty="0"/>
              <a:t>Real-time Processing: Kafka consumer successfully processes live streams, evaluating churn probability dynamically.</a:t>
            </a:r>
          </a:p>
          <a:p>
            <a:pPr lvl="0"/>
            <a:r>
              <a:rPr lang="en-IN" sz="2400" dirty="0"/>
              <a:t>Generative Action: The RAG system accurately retrieves specific telecom policies and generates personalized, 1-2 sentence retention offers for high-risk customers in real-time.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IN" dirty="0"/>
              <a:t>Integration: Seamlessly connected the ML pipeline, Kafka stream, </a:t>
            </a:r>
            <a:r>
              <a:rPr lang="en-IN" dirty="0" err="1"/>
              <a:t>ChromaDB</a:t>
            </a:r>
            <a:r>
              <a:rPr lang="en-IN" dirty="0"/>
              <a:t>, and local LLM into a unified </a:t>
            </a:r>
            <a:r>
              <a:rPr lang="en-IN" dirty="0" err="1"/>
              <a:t>FastAPI</a:t>
            </a:r>
            <a:r>
              <a:rPr lang="en-IN" dirty="0"/>
              <a:t> backend.</a:t>
            </a:r>
          </a:p>
          <a:p>
            <a:pPr lvl="0"/>
            <a:r>
              <a:rPr lang="en-IN" dirty="0"/>
              <a:t>Dashboarding: Deployed a plain, business-style live dashboard utilizing Server-Sent Events (SSE) to display metrics, risk queues, and AI-generated offers.</a:t>
            </a:r>
          </a:p>
          <a:p>
            <a:pPr lvl="0"/>
            <a:r>
              <a:rPr lang="en-IN" dirty="0"/>
              <a:t>Strengths: Completely local execution ensures data privacy; real-time capability allows for immediate intervention.</a:t>
            </a:r>
          </a:p>
          <a:p>
            <a:pPr lvl="0"/>
            <a:r>
              <a:rPr lang="en-IN" dirty="0"/>
              <a:t>Limitations: High resource dependency (RAM/CPU) for running local LLMs and Kafka concurrently.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Deployment / Integration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Cloud Migration: Transitioning from a local environment to cloud-native services (e.g., </a:t>
            </a:r>
            <a:r>
              <a:rPr lang="en-IN" sz="2400" dirty="0" err="1"/>
              <a:t>Upstash</a:t>
            </a:r>
            <a:r>
              <a:rPr lang="en-IN" sz="2400" dirty="0"/>
              <a:t> Kafka, managed Vector DBs, and cloud LLM APIs) for better scalability.</a:t>
            </a:r>
          </a:p>
          <a:p>
            <a:pPr lvl="0"/>
            <a:r>
              <a:rPr lang="en-IN" sz="2400" dirty="0"/>
              <a:t>A/B Testing Integration: Implementing a feedback loop to track the success rate of the AI-generated retention offers.</a:t>
            </a:r>
          </a:p>
          <a:p>
            <a:pPr lvl="0"/>
            <a:r>
              <a:rPr lang="en-IN" sz="2400" dirty="0"/>
              <a:t>Omnichannel Deployment: Integrating the retention agent directly into CRM systems or customer service chatbots for automated outreach.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Future Work &amp; Scope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C5B4-E504-4ABA-979C-1F5F05F6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636D96-769E-AF53-0878-A4C371DFE6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The project successfully demonstrates the transition from static predictive </a:t>
            </a:r>
            <a:r>
              <a:rPr lang="en-IN" sz="2400" dirty="0" err="1"/>
              <a:t>modeling</a:t>
            </a:r>
            <a:r>
              <a:rPr lang="en-IN" sz="2400" dirty="0"/>
              <a:t> to an active, real-time, and explainable ML system.</a:t>
            </a:r>
          </a:p>
          <a:p>
            <a:pPr lvl="0"/>
            <a:r>
              <a:rPr lang="en-IN" sz="2400" dirty="0"/>
              <a:t>By combining the predictive power of </a:t>
            </a:r>
            <a:r>
              <a:rPr lang="en-IN" sz="2400" dirty="0" err="1"/>
              <a:t>XGBoost</a:t>
            </a:r>
            <a:r>
              <a:rPr lang="en-IN" sz="2400" dirty="0"/>
              <a:t> with the generative capabilities of Llama 3 and RAG, telecom providers can proactively identify and retain high-risk customers with targeted, policy-compliant actions.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60C74-B102-922A-553F-CED0E2BEDEE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98293F-324B-CEFD-BCB1-7961CAE6F88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FBCA03-B097-1315-5A4A-A066787DAE2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768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I would like to express my sincere gratitude to L&amp;T </a:t>
            </a:r>
            <a:r>
              <a:rPr lang="en-IN" sz="2400" dirty="0" err="1"/>
              <a:t>EduTech</a:t>
            </a:r>
            <a:r>
              <a:rPr lang="en-IN" sz="2400" dirty="0"/>
              <a:t> and </a:t>
            </a:r>
            <a:r>
              <a:rPr lang="en-IN" sz="2400" dirty="0" err="1"/>
              <a:t>LTIMindtree</a:t>
            </a:r>
            <a:r>
              <a:rPr lang="en-IN" sz="2400" dirty="0"/>
              <a:t> for providing the industry-integrated platform and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Chen, T., &amp; </a:t>
            </a:r>
            <a:r>
              <a:rPr lang="en-IN" sz="2400" dirty="0" err="1"/>
              <a:t>Guestrin</a:t>
            </a:r>
            <a:r>
              <a:rPr lang="en-IN" sz="2400" dirty="0"/>
              <a:t>, C. (2016). </a:t>
            </a:r>
            <a:r>
              <a:rPr lang="en-IN" sz="2400" dirty="0" err="1"/>
              <a:t>XGBoost</a:t>
            </a:r>
            <a:r>
              <a:rPr lang="en-IN" sz="2400" dirty="0"/>
              <a:t>: A Scalable Tree Boosting System.</a:t>
            </a:r>
          </a:p>
          <a:p>
            <a:pPr lvl="0"/>
            <a:r>
              <a:rPr lang="en-IN" sz="2400" dirty="0"/>
              <a:t>Lundberg, S. M., &amp; Lee, S.-I. (2017). A Unified Approach to Interpreting Model Predictions (SHAP).</a:t>
            </a:r>
          </a:p>
          <a:p>
            <a:pPr lvl="0"/>
            <a:r>
              <a:rPr lang="en-IN" sz="2400" dirty="0"/>
              <a:t>Lewis, P., et al. (2020). Retrieval-Augmented Generation for Knowledge-Intensive NLP Tasks.</a:t>
            </a:r>
          </a:p>
          <a:p>
            <a:pPr lvl="0"/>
            <a:r>
              <a:rPr lang="en-IN" sz="2400" dirty="0"/>
              <a:t>Apache Kafka Documentation: </a:t>
            </a:r>
            <a:r>
              <a:rPr lang="en-IN" sz="2400" dirty="0">
                <a:hlinkClick r:id="rcId4e70202ba7dc4a20"/>
              </a:rPr>
              <a:t>https://kafka.apache.org/documentation/</a:t>
            </a:r>
            <a:endParaRPr lang="en-IN" sz="2400" dirty="0"/>
          </a:p>
          <a:p>
            <a:pPr lvl="0"/>
            <a:r>
              <a:rPr lang="en-IN" sz="2400" dirty="0" err="1"/>
              <a:t>ChromaDB</a:t>
            </a:r>
            <a:r>
              <a:rPr lang="en-IN" sz="2400" dirty="0"/>
              <a:t> Documentation: </a:t>
            </a:r>
            <a:r>
              <a:rPr lang="en-IN" sz="2400" dirty="0">
                <a:hlinkClick r:id="rcId0ae1d40ac2524a07"/>
              </a:rPr>
              <a:t>https://docs.trychroma.com/</a:t>
            </a: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Data Narrator: Multi-Agent NL-to-SQL BI Copilot with Autonomous Self-Correction and Insights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Swapnadeep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Das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5e94d17a211b4400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b0936cc99cfc4025">
            <a:extLst>
              <a:ext uri="{BEBA8EAE-BF5A-486C-A8C5-ECC9F3942E4B}">
                <a14:imgProps xmlns:a14="http://schemas.microsoft.com/office/drawing/2010/main">
                  <a14:imgLayer r:embed="Ra8d7c959b0ae484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The Data Narrator is an offline, privacy-first business intelligence copilot designed to translate natural language queries into executable SQL. </a:t>
            </a:r>
          </a:p>
          <a:p>
            <a:pPr lvl="0"/>
            <a:r>
              <a:rPr lang="en-IN" dirty="0"/>
              <a:t>The system processes enterprise data locally, ensuring zero data leakage to cloud-based LLM providers.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To deploy a multi-agent system capable of dynamic SQL generation, autonomous self-correction, and data visualization. </a:t>
            </a:r>
          </a:p>
          <a:p>
            <a:pPr lvl="0"/>
            <a:r>
              <a:rPr lang="en-IN" dirty="0"/>
              <a:t>To enable non-technical business users to query complex relational databases through a conversational interface.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Enterprise users frequently lack the technical SQL expertise required to extract specific insights from highly relational corporate databases. </a:t>
            </a:r>
          </a:p>
          <a:p>
            <a:pPr lvl="0"/>
            <a:r>
              <a:rPr lang="en-IN" dirty="0"/>
              <a:t>Existing cloud-based solutions present severe security and compliance risks when handling sensitive corporate data.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Engineered a cyclic LangGraph state machine featuring four core nodes: SQL Coder, Database Executor, Visualizer (Agent 4), and Summarizer. </a:t>
            </a:r>
          </a:p>
          <a:p>
            <a:pPr lvl="0"/>
            <a:r>
              <a:rPr lang="en-IN" dirty="0"/>
              <a:t>Migrated from basic mock data to a 6-table relational enterprise schema containing over 10,000 synthetic transaction records to validate complex JOIN logic.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Approach: Utilized a self-healing loop that routes PostgreSQL execution errors back to the local LLM for correction. Implemented regular expression (regex) parsing to extract JSON configurations for chart rendering. </a:t>
            </a:r>
          </a:p>
          <a:p>
            <a:pPr lvl="0"/>
            <a:r>
              <a:rPr lang="en-IN" dirty="0"/>
              <a:t>Tools: Python, LangChain, LangGraph, Llama 3.1 (via Ollama), PostgreSQL, Pandas, Plotly, Streamlit.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Working Solution: Successfully deployed a plain business style Streamlit dashboard featuring reverse-scrolling telemetry streams for clear query tracking. </a:t>
            </a:r>
          </a:p>
          <a:p>
            <a:pPr lvl="0"/>
            <a:r>
              <a:rPr lang="en-IN" dirty="0"/>
              <a:t>Quality of Results: The visualizer node accurately maps SQL output columns to dynamic Plotly figures (Bar, Pie, Line) using fallback logic to prevent rendering crashes. </a:t>
            </a:r>
          </a:p>
          <a:p>
            <a:pPr lvl="0"/>
            <a:r>
              <a:rPr lang="en-IN" dirty="0"/>
              <a:t>Strengths: The system operates completely offline while successfully executing multi-table JOIN operations and resolving syntax errors autonomously. </a:t>
            </a:r>
          </a:p>
          <a:p>
            <a:pPr lvl="0"/>
            <a:r>
              <a:rPr lang="en-IN" dirty="0"/>
              <a:t>Limitations: Running an 8B parameter model locally requires significant compute resources, resulting in higher latency compared to cloud APIs.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Summary: Delivered a fully functional, secure end-to-end NL-to-SQL copilot capable of both text summarization and visual data representation. </a:t>
            </a:r>
          </a:p>
          <a:p>
            <a:pPr lvl="0"/>
            <a:r>
              <a:rPr lang="en-IN" dirty="0"/>
              <a:t>Future Scope: Implementing containerized deployment pipelines utilizing Docker and Kubernetes for scalable enterprise environments. </a:t>
            </a:r>
          </a:p>
          <a:p>
            <a:pPr lvl="0"/>
            <a:r>
              <a:rPr lang="en-IN" dirty="0"/>
              <a:t>Improvements: Exploring quantized model variants to reduce hardware dependencies and improve overall response latency.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I would like to express my gratitude to Professor Saravanaguru RA.K. for providing continuous academic research guidance throughout the development of this project. </a:t>
            </a:r>
          </a:p>
          <a:p>
            <a:pPr lvl="0"/>
            <a:r>
              <a:rPr lang="en-IN" dirty="0"/>
              <a:t>Special thanks to VIT and LTIMindTree for their institutional support and resources.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Official documentation for LangChain, LangGraph, and PostgreSQL. </a:t>
            </a:r>
          </a:p>
          <a:p>
            <a:pPr lvl="0"/>
            <a:r>
              <a:rPr lang="en-IN" dirty="0"/>
              <a:t>API references for Streamlit, Plotly, and Pandas.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874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Swapnadeep Das</lastModifiedBy>
  <revision>15</revision>
  <dcterms:created xsi:type="dcterms:W3CDTF">2024-05-13T10:33:11.0000000Z</dcterms:created>
  <dcterms:modified xsi:type="dcterms:W3CDTF">2026-10-08T08:29:02.6020000Z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