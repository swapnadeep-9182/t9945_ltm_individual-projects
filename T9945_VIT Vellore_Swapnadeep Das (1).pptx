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ay" panose="020B0604020202020204" charset="0"/>
      <p:regular r:id="rId8"/>
      <p:bold r:id="rId9"/>
    </p:embeddedFont>
    <p:embeddedFont>
      <p:font typeface="Urbanist" panose="020B0604020202020204" charset="0"/>
      <p:regular r:id="rId10"/>
      <p:bold r:id="rId11"/>
      <p:italic r:id="rId12"/>
      <p:boldItalic r:id="rId13"/>
    </p:embeddedFont>
    <p:embeddedFont>
      <p:font typeface="Urbanist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l="387" r="38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Swapnadeep Das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85135" y="2462982"/>
            <a:ext cx="11661059" cy="4395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College Name: </a:t>
            </a:r>
            <a:r>
              <a:rPr lang="en-US" dirty="0"/>
              <a:t>VIT Vellore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Roll no.: </a:t>
            </a:r>
            <a:r>
              <a:rPr lang="en-US" dirty="0"/>
              <a:t>25MML0034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Project 1 Title: </a:t>
            </a:r>
            <a:r>
              <a:rPr lang="en-US" dirty="0"/>
              <a:t>Hybrid Predictive-Generative Customer Retention: Integrating Tabular Churn Prediction with RAG-Powered Knowledge Retrieval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Project 2 Title: </a:t>
            </a:r>
            <a:r>
              <a:rPr lang="en-US" dirty="0"/>
              <a:t>Data Narrator: Multi-Agent NL-to-SQL BI Copilot with Autonomous Self-Correction and Insights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A subtle abstract light gray and pale blue background with faint digital grid lines, network connections, and soft geometric shapes, extremely minimalist, clean corporate presentation slide styl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600"/>
              <a:t>Hybrid Predictive-Generative Customer Retention: Integrating Tabular Churn Prediction with RAG-Powered Knowledge Retrieval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Problem &amp; Objectives: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800" u="sng" dirty="0">
                <a:latin typeface="Urbanist SemiBold"/>
                <a:ea typeface="Urbanist SemiBold"/>
                <a:cs typeface="Urbanist SemiBold"/>
                <a:sym typeface="Urbanist SemiBold"/>
              </a:rPr>
              <a:t>The Problem:</a:t>
            </a:r>
            <a:r>
              <a:rPr lang="en-US" sz="1800" u="sng" dirty="0"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>
                <a:latin typeface="Urbanist"/>
                <a:ea typeface="Urbanist"/>
                <a:cs typeface="Urbanist"/>
                <a:sym typeface="Urbanist"/>
              </a:rPr>
              <a:t>Traditional retention systems rely on batch processing. By the time models predict churn, the customer has already decided to leave. Standard AI lacks automated, context-aware intervention.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800" u="sng" dirty="0">
                <a:latin typeface="Urbanist SemiBold"/>
                <a:ea typeface="Urbanist SemiBold"/>
                <a:cs typeface="Urbanist SemiBold"/>
                <a:sym typeface="Urbanist SemiBold"/>
              </a:rPr>
              <a:t>Core Objectives: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800" dirty="0">
                <a:latin typeface="Urbanist SemiBold"/>
                <a:ea typeface="Urbanist SemiBold"/>
                <a:cs typeface="Urbanist SemiBold"/>
                <a:sym typeface="Urbanist SemiBold"/>
              </a:rPr>
              <a:t>Stream Ingestion:</a:t>
            </a:r>
            <a:r>
              <a:rPr lang="en-US" sz="1800" dirty="0">
                <a:latin typeface="Urbanist"/>
                <a:ea typeface="Urbanist"/>
                <a:cs typeface="Urbanist"/>
                <a:sym typeface="Urbanist"/>
              </a:rPr>
              <a:t> Use Apache Kafka for sub-second data streaming.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800" dirty="0">
                <a:latin typeface="Urbanist SemiBold"/>
                <a:ea typeface="Urbanist SemiBold"/>
                <a:cs typeface="Urbanist SemiBold"/>
                <a:sym typeface="Urbanist SemiBold"/>
              </a:rPr>
              <a:t>Real-Time ML:</a:t>
            </a:r>
            <a:r>
              <a:rPr lang="en-US" sz="1800" dirty="0">
                <a:latin typeface="Urbanist"/>
                <a:ea typeface="Urbanist"/>
                <a:cs typeface="Urbanist"/>
                <a:sym typeface="Urbanist"/>
              </a:rPr>
              <a:t> Instant risk scoring via Mini-Batch K-Means &amp; </a:t>
            </a:r>
            <a:r>
              <a:rPr lang="en-US" sz="1800" dirty="0" err="1">
                <a:latin typeface="Urbanist"/>
                <a:ea typeface="Urbanist"/>
                <a:cs typeface="Urbanist"/>
                <a:sym typeface="Urbanist"/>
              </a:rPr>
              <a:t>XGBoost</a:t>
            </a:r>
            <a:r>
              <a:rPr lang="en-US" sz="1800" dirty="0"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800" dirty="0">
                <a:latin typeface="Urbanist SemiBold"/>
                <a:ea typeface="Urbanist SemiBold"/>
                <a:cs typeface="Urbanist SemiBold"/>
                <a:sym typeface="Urbanist SemiBold"/>
              </a:rPr>
              <a:t>Action via RAG:</a:t>
            </a:r>
            <a:r>
              <a:rPr lang="en-US" sz="1800" dirty="0">
                <a:latin typeface="Urbanist"/>
                <a:ea typeface="Urbanist"/>
                <a:cs typeface="Urbanist"/>
                <a:sym typeface="Urbanist"/>
              </a:rPr>
              <a:t> Trigger local LLMs (</a:t>
            </a:r>
            <a:r>
              <a:rPr lang="en-US" sz="1800" dirty="0" err="1">
                <a:latin typeface="Urbanist"/>
                <a:ea typeface="Urbanist"/>
                <a:cs typeface="Urbanist"/>
                <a:sym typeface="Urbanist"/>
              </a:rPr>
              <a:t>Ollama</a:t>
            </a:r>
            <a:r>
              <a:rPr lang="en-US" sz="1800" dirty="0">
                <a:latin typeface="Urbanist"/>
                <a:ea typeface="Urbanist"/>
                <a:cs typeface="Urbanist"/>
                <a:sym typeface="Urbanist"/>
              </a:rPr>
              <a:t>) to generate policy-compliant retention offers offline, in real-time.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Dataset Strategy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800" b="0" i="0" u="none" dirty="0">
                <a:latin typeface="Urbanist SemiBold"/>
                <a:ea typeface="Urbanist SemiBold"/>
                <a:cs typeface="Urbanist SemiBold"/>
                <a:sym typeface="Urbanist SemiBold"/>
              </a:rPr>
              <a:t>1. </a:t>
            </a:r>
            <a:r>
              <a:rPr lang="en-US" sz="1800" b="0" i="0" u="sng" dirty="0">
                <a:latin typeface="Urbanist SemiBold"/>
                <a:ea typeface="Urbanist SemiBold"/>
                <a:cs typeface="Urbanist SemiBold"/>
                <a:sym typeface="Urbanist SemiBold"/>
              </a:rPr>
              <a:t>Tabular Event Stream (ML Training):  </a:t>
            </a:r>
            <a:r>
              <a:rPr lang="en-US" sz="1800" b="0" i="0" u="none" dirty="0">
                <a:latin typeface="Urbanist"/>
                <a:ea typeface="Urbanist"/>
                <a:cs typeface="Urbanist"/>
                <a:sym typeface="Urbanist"/>
              </a:rPr>
              <a:t>The public IBM Telco Churn dataset is refactored into a live Kafka message stream. This simulates real-time network behavior, allowing dynamic clustering based on tenure, charges, and support tickets.</a:t>
            </a:r>
            <a:endParaRPr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800" b="0" i="0" u="none" dirty="0">
                <a:latin typeface="Urbanist SemiBold"/>
                <a:ea typeface="Urbanist SemiBold"/>
                <a:cs typeface="Urbanist SemiBold"/>
                <a:sym typeface="Urbanist SemiBold"/>
              </a:rPr>
              <a:t>2. </a:t>
            </a:r>
            <a:r>
              <a:rPr lang="en-US" sz="1800" b="0" i="0" u="sng" dirty="0">
                <a:latin typeface="Urbanist SemiBold"/>
                <a:ea typeface="Urbanist SemiBold"/>
                <a:cs typeface="Urbanist SemiBold"/>
                <a:sym typeface="Urbanist SemiBold"/>
              </a:rPr>
              <a:t>Synthetic Knowledge Base (RAG):  </a:t>
            </a:r>
            <a:r>
              <a:rPr lang="en-US" sz="1800" b="0" i="0" u="none" dirty="0">
                <a:latin typeface="Urbanist"/>
                <a:ea typeface="Urbanist"/>
                <a:cs typeface="Urbanist"/>
                <a:sym typeface="Urbanist"/>
              </a:rPr>
              <a:t>A curated corpus of enterprise SLAs, discount policies, and FAQs embedded into </a:t>
            </a:r>
            <a:r>
              <a:rPr lang="en-US" sz="1800" b="0" i="0" u="none" dirty="0" err="1">
                <a:latin typeface="Urbanist"/>
                <a:ea typeface="Urbanist"/>
                <a:cs typeface="Urbanist"/>
                <a:sym typeface="Urbanist"/>
              </a:rPr>
              <a:t>ChromaDB</a:t>
            </a:r>
            <a:r>
              <a:rPr lang="en-US" sz="1800" b="0" i="0" u="none" dirty="0">
                <a:latin typeface="Urbanist"/>
                <a:ea typeface="Urbanist"/>
                <a:cs typeface="Urbanist"/>
                <a:sym typeface="Urbanist"/>
              </a:rPr>
              <a:t>. This grounds the local offline LLM, ensuring it retrieves factual policies and prevents AI hallucinations.</a:t>
            </a:r>
            <a:endParaRPr sz="1800" dirty="0"/>
          </a:p>
          <a:p>
            <a:pPr marL="228600" lvl="0" indent="-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l="387" r="38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838200" y="353961"/>
            <a:ext cx="5181600" cy="58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4000" dirty="0">
                <a:latin typeface="Urbanist SemiBold"/>
                <a:ea typeface="Urbanist SemiBold"/>
                <a:cs typeface="Urbanist SemiBold"/>
                <a:sym typeface="Urbanist SemiBold"/>
              </a:rPr>
              <a:t>TECHNICAL STACK:</a:t>
            </a:r>
            <a:endParaRPr sz="4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Streaming: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Apache Kafka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AI / ML: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Scikit-learn,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XGBoost</a:t>
            </a:r>
            <a:endParaRPr dirty="0">
              <a:latin typeface="Urbanist"/>
              <a:ea typeface="Urbanist"/>
              <a:cs typeface="Urbanist"/>
              <a:sym typeface="Urbanis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Offline RAG: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LangChain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ChromaDB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,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DevOps: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Docker Compose, GitHub Actions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2"/>
          </p:nvPr>
        </p:nvSpPr>
        <p:spPr>
          <a:xfrm>
            <a:off x="6172200" y="353961"/>
            <a:ext cx="5181600" cy="58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4000" dirty="0">
                <a:latin typeface="Urbanist SemiBold"/>
                <a:ea typeface="Urbanist SemiBold"/>
                <a:cs typeface="Urbanist SemiBold"/>
                <a:sym typeface="Urbanist SemiBold"/>
              </a:rPr>
              <a:t>EXPECTED OUTCOMES:</a:t>
            </a:r>
            <a:endParaRPr sz="4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Live customer segmentation executing dynamically upon event arrival.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Instantaneous, hallucination-free retention interventions using free, offline local LLMs.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l="387" r="38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600"/>
              <a:t>Data Narrator: Multi-Agent NL-to-SQL BI Copilot with Autonomous Self-Correction and Insights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838200" y="1343818"/>
            <a:ext cx="5181600" cy="48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4000" dirty="0">
                <a:latin typeface="Urbanist SemiBold"/>
                <a:ea typeface="Urbanist SemiBold"/>
                <a:cs typeface="Urbanist SemiBold"/>
                <a:sym typeface="Urbanist SemiBold"/>
              </a:rPr>
              <a:t>Problem Statement:</a:t>
            </a:r>
            <a:endParaRPr sz="4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2000" dirty="0">
                <a:latin typeface="Urbanist"/>
                <a:ea typeface="Urbanist"/>
                <a:cs typeface="Urbanist"/>
                <a:sym typeface="Urbanist"/>
              </a:rPr>
              <a:t>Business users wait 2-5 days for SQL reports. Current tools fail due to schema hallucinations and lack of execution safety.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4000" dirty="0">
                <a:latin typeface="Urbanist SemiBold"/>
                <a:ea typeface="Urbanist SemiBold"/>
                <a:cs typeface="Urbanist SemiBold"/>
                <a:sym typeface="Urbanist SemiBold"/>
              </a:rPr>
              <a:t>Core Objectives:</a:t>
            </a:r>
            <a:endParaRPr sz="4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2000" dirty="0">
                <a:latin typeface="Urbanist"/>
                <a:ea typeface="Urbanist"/>
                <a:cs typeface="Urbanist"/>
                <a:sym typeface="Urbanist"/>
              </a:rPr>
              <a:t>Build a </a:t>
            </a:r>
            <a:r>
              <a:rPr lang="en-US" sz="2000" dirty="0" err="1">
                <a:latin typeface="Urbanist"/>
                <a:ea typeface="Urbanist"/>
                <a:cs typeface="Urbanist"/>
                <a:sym typeface="Urbanist"/>
              </a:rPr>
              <a:t>LangGraph</a:t>
            </a:r>
            <a:r>
              <a:rPr lang="en-US" sz="2000" dirty="0">
                <a:latin typeface="Urbanist"/>
                <a:ea typeface="Urbanist"/>
                <a:cs typeface="Urbanist"/>
                <a:sym typeface="Urbanist"/>
              </a:rPr>
              <a:t> &amp; Llama 3.1 multi-agent system. Implement safe, read-only SQL generation. Automate visual charts and executive summaries.</a:t>
            </a:r>
            <a:endParaRPr sz="20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2"/>
          </p:nvPr>
        </p:nvSpPr>
        <p:spPr>
          <a:xfrm>
            <a:off x="6172200" y="1343818"/>
            <a:ext cx="5181600" cy="48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4000" dirty="0">
                <a:latin typeface="Urbanist SemiBold"/>
                <a:ea typeface="Urbanist SemiBold"/>
                <a:cs typeface="Urbanist SemiBold"/>
                <a:sym typeface="Urbanist SemiBold"/>
              </a:rPr>
              <a:t>Dataset Strategy:</a:t>
            </a:r>
            <a:endParaRPr sz="4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2000" dirty="0">
                <a:latin typeface="Urbanist SemiBold"/>
                <a:ea typeface="Urbanist SemiBold"/>
                <a:cs typeface="Urbanist SemiBold"/>
                <a:sym typeface="Urbanist SemiBold"/>
              </a:rPr>
              <a:t>Source:</a:t>
            </a:r>
            <a:r>
              <a:rPr lang="en-US" sz="2000" dirty="0">
                <a:latin typeface="Urbanist"/>
                <a:ea typeface="Urbanist"/>
                <a:cs typeface="Urbanist"/>
                <a:sym typeface="Urbanist"/>
              </a:rPr>
              <a:t> Northwind &amp; Chinook enterprise schemas.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2000" dirty="0">
                <a:latin typeface="Urbanist SemiBold"/>
                <a:ea typeface="Urbanist SemiBold"/>
                <a:cs typeface="Urbanist SemiBold"/>
                <a:sym typeface="Urbanist SemiBold"/>
              </a:rPr>
              <a:t>Format:</a:t>
            </a:r>
            <a:r>
              <a:rPr lang="en-US" sz="2000" dirty="0">
                <a:latin typeface="Urbanist"/>
                <a:ea typeface="Urbanist"/>
                <a:cs typeface="Urbanist"/>
                <a:sym typeface="Urbanist"/>
              </a:rPr>
              <a:t> Multi-table PostgreSQL database.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2000" dirty="0">
                <a:latin typeface="Urbanist SemiBold"/>
                <a:ea typeface="Urbanist SemiBold"/>
                <a:cs typeface="Urbanist SemiBold"/>
                <a:sym typeface="Urbanist SemiBold"/>
              </a:rPr>
              <a:t>Relevance:</a:t>
            </a:r>
            <a:r>
              <a:rPr lang="en-US" sz="2000" dirty="0">
                <a:latin typeface="Urbanist"/>
                <a:ea typeface="Urbanist"/>
                <a:cs typeface="Urbanist"/>
                <a:sym typeface="Urbanist"/>
              </a:rPr>
              <a:t> Simulates real-world operational and relational complexity.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l="387" r="38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838200" y="285135"/>
            <a:ext cx="5181600" cy="5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4000" dirty="0">
                <a:latin typeface="Urbanist SemiBold"/>
                <a:ea typeface="Urbanist SemiBold"/>
                <a:cs typeface="Urbanist SemiBold"/>
                <a:sym typeface="Urbanist SemiBold"/>
              </a:rPr>
              <a:t>TECHNICAL STACK:</a:t>
            </a:r>
            <a:endParaRPr sz="4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Agents: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LangGraph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Ollama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(Llama 3.1 8B).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Database: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PostgreSQL, psycopg2.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 SemiBold"/>
                <a:ea typeface="Urbanist SemiBold"/>
                <a:cs typeface="Urbanist SemiBold"/>
                <a:sym typeface="Urbanist SemiBold"/>
              </a:rPr>
              <a:t>Interface: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Streamlit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dirty="0" err="1">
                <a:latin typeface="Urbanist"/>
                <a:ea typeface="Urbanist"/>
                <a:cs typeface="Urbanist"/>
                <a:sym typeface="Urbanist"/>
              </a:rPr>
              <a:t>Plotly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 charts.</a:t>
            </a:r>
            <a:endParaRPr dirty="0"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2"/>
          </p:nvPr>
        </p:nvSpPr>
        <p:spPr>
          <a:xfrm>
            <a:off x="6172200" y="285135"/>
            <a:ext cx="5181600" cy="5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4000" dirty="0">
                <a:latin typeface="Urbanist SemiBold"/>
                <a:ea typeface="Urbanist SemiBold"/>
                <a:cs typeface="Urbanist SemiBold"/>
                <a:sym typeface="Urbanist SemiBold"/>
              </a:rPr>
              <a:t>EXPECTED OUTCOMES:</a:t>
            </a:r>
            <a:endParaRPr sz="4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A self-serve BI copilot translating plain English to </a:t>
            </a:r>
            <a:r>
              <a:rPr lang="en-US" b="1" dirty="0">
                <a:latin typeface="Urbanist"/>
                <a:ea typeface="Urbanist"/>
                <a:cs typeface="Urbanist"/>
                <a:sym typeface="Urbanist"/>
              </a:rPr>
              <a:t>safe SQL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, autonomously </a:t>
            </a:r>
            <a:r>
              <a:rPr lang="en-US" b="1" dirty="0">
                <a:latin typeface="Urbanist"/>
                <a:ea typeface="Urbanist"/>
                <a:cs typeface="Urbanist"/>
                <a:sym typeface="Urbanist"/>
              </a:rPr>
              <a:t>correcting its own errors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, and rendering interactive charts in </a:t>
            </a:r>
            <a:r>
              <a:rPr lang="en-US" b="1" dirty="0">
                <a:latin typeface="Urbanist"/>
                <a:ea typeface="Urbanist"/>
                <a:cs typeface="Urbanist"/>
                <a:sym typeface="Urbanist"/>
              </a:rPr>
              <a:t>under 10 seconds</a:t>
            </a:r>
            <a:r>
              <a:rPr lang="en-US" dirty="0"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Widescreen</PresentationFormat>
  <Paragraphs>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Urbanist</vt:lpstr>
      <vt:lpstr>Arial</vt:lpstr>
      <vt:lpstr>Play</vt:lpstr>
      <vt:lpstr>Urbanist SemiBold</vt:lpstr>
      <vt:lpstr>Office Theme</vt:lpstr>
      <vt:lpstr>Swapnadeep Das</vt:lpstr>
      <vt:lpstr>Hybrid Predictive-Generative Customer Retention: Integrating Tabular Churn Prediction with RAG-Powered Knowledge Retrieval</vt:lpstr>
      <vt:lpstr>PowerPoint Presentation</vt:lpstr>
      <vt:lpstr>Data Narrator: Multi-Agent NL-to-SQL BI Copilot with Autonomous Self-Correction and Insights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Swapnadeep Das</cp:lastModifiedBy>
  <cp:revision>1</cp:revision>
  <dcterms:modified xsi:type="dcterms:W3CDTF">2026-08-27T16:35:47Z</dcterms:modified>
</cp:coreProperties>
</file>