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wdp" ContentType="image/vnd.ms-photo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dd5d37b68344a2e" /><Relationship Type="http://schemas.openxmlformats.org/package/2006/relationships/metadata/core-properties" Target="/docProps/core.xml" Id="R4b9ec4df98d145b2" /><Relationship Type="http://schemas.openxmlformats.org/officeDocument/2006/relationships/extended-properties" Target="/docProps/app.xml" Id="R6778d195c8b94325" /><Relationship Type="http://schemas.openxmlformats.org/officeDocument/2006/relationships/custom-properties" Target="/docProps/custom.xml" Id="R81d018ea8cc2462f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ecd9d08ab1544e4f"/>
  </p:sldMasterIdLst>
  <p:sldIdLst>
    <p:sldId id="256" r:id="R8a6a1fb8aad34c34"/>
    <p:sldId id="257" r:id="Rbd488a60cff64140"/>
    <p:sldId id="258" r:id="R3770fff78f96486e"/>
    <p:sldId id="259" r:id="R7a6d4659c693494b"/>
    <p:sldId id="260" r:id="Re137aea4d1254c4b"/>
    <p:sldId id="261" r:id="R1bd890e822e54ef4"/>
    <p:sldId id="262" r:id="R7ce9a077f3544f1f"/>
    <p:sldId id="263" r:id="Rde0c5561492e488d"/>
    <p:sldId id="264" r:id="R26609bc07b0d409a"/>
    <p:sldId id="265" r:id="R5db7b45878594a23"/>
    <p:sldId id="266" r:id="R512efac851234768"/>
    <p:sldId id="267" r:id="Rf79190b75b574c8b"/>
    <p:sldId id="268" r:id="R51004ec36cf94dfa"/>
    <p:sldId id="269" r:id="R7ca17f4958434ab6"/>
    <p:sldId id="270" r:id="R577ee2cb0f9b417c"/>
    <p:sldId id="271" r:id="Rd8fa6932dc314d42"/>
    <p:sldId id="272" r:id="R116bd890d128406e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ed5cbae418eb4125" /><Relationship Type="http://schemas.openxmlformats.org/officeDocument/2006/relationships/viewProps" Target="/ppt/viewProps.xml" Id="R988deeee59d04f3a" /><Relationship Type="http://schemas.openxmlformats.org/officeDocument/2006/relationships/slideMaster" Target="/ppt/slideMasters/slideMaster1.xml" Id="Recd9d08ab1544e4f" /><Relationship Type="http://schemas.openxmlformats.org/officeDocument/2006/relationships/theme" Target="/ppt/slideMasters/theme/theme1.xml" Id="R227cbc62c79c4d59" /><Relationship Type="http://schemas.openxmlformats.org/officeDocument/2006/relationships/slide" Target="/ppt/slides/slide1.xml" Id="R8a6a1fb8aad34c34" /><Relationship Type="http://schemas.openxmlformats.org/officeDocument/2006/relationships/slide" Target="/ppt/slides/slide2.xml" Id="Rbd488a60cff64140" /><Relationship Type="http://schemas.openxmlformats.org/officeDocument/2006/relationships/slide" Target="/ppt/slides/slide3.xml" Id="R3770fff78f96486e" /><Relationship Type="http://schemas.openxmlformats.org/officeDocument/2006/relationships/slide" Target="/ppt/slides/slide4.xml" Id="R7a6d4659c693494b" /><Relationship Type="http://schemas.openxmlformats.org/officeDocument/2006/relationships/slide" Target="/ppt/slides/slide5.xml" Id="Re137aea4d1254c4b" /><Relationship Type="http://schemas.openxmlformats.org/officeDocument/2006/relationships/slide" Target="/ppt/slides/slide6.xml" Id="R1bd890e822e54ef4" /><Relationship Type="http://schemas.openxmlformats.org/officeDocument/2006/relationships/slide" Target="/ppt/slides/slide7.xml" Id="R7ce9a077f3544f1f" /><Relationship Type="http://schemas.openxmlformats.org/officeDocument/2006/relationships/slide" Target="/ppt/slides/slide8.xml" Id="Rde0c5561492e488d" /><Relationship Type="http://schemas.openxmlformats.org/officeDocument/2006/relationships/slide" Target="/ppt/slides/slide9.xml" Id="R26609bc07b0d409a" /><Relationship Type="http://schemas.openxmlformats.org/officeDocument/2006/relationships/slide" Target="/ppt/slides/slide10.xml" Id="R5db7b45878594a23" /><Relationship Type="http://schemas.openxmlformats.org/officeDocument/2006/relationships/slide" Target="/ppt/slides/slide11.xml" Id="R512efac851234768" /><Relationship Type="http://schemas.openxmlformats.org/officeDocument/2006/relationships/slide" Target="/ppt/slides/slide12.xml" Id="Rf79190b75b574c8b" /><Relationship Type="http://schemas.openxmlformats.org/officeDocument/2006/relationships/slide" Target="/ppt/slides/slide13.xml" Id="R51004ec36cf94dfa" /><Relationship Type="http://schemas.openxmlformats.org/officeDocument/2006/relationships/slide" Target="/ppt/slides/slide14.xml" Id="R7ca17f4958434ab6" /><Relationship Type="http://schemas.openxmlformats.org/officeDocument/2006/relationships/slide" Target="/ppt/slides/slide15.xml" Id="R577ee2cb0f9b417c" /><Relationship Type="http://schemas.openxmlformats.org/officeDocument/2006/relationships/slide" Target="/ppt/slides/slide16.xml" Id="Rd8fa6932dc314d42" /><Relationship Type="http://schemas.openxmlformats.org/officeDocument/2006/relationships/slide" Target="/ppt/slides/slide17.xml" Id="R116bd890d12840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309f2816da4333" /></Relationships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1dea3d86c1ba436d" /><Relationship Type="http://schemas.openxmlformats.org/officeDocument/2006/relationships/image" Target="/ppt/media/image2.png" Id="Rf6bd185511e44705" /><Relationship Type="http://schemas.openxmlformats.org/officeDocument/2006/relationships/image" Target="/ppt/media/image3.png" Id="R5ef6825f581241cc" /><Relationship Type="http://schemas.microsoft.com/office/2007/relationships/hdphoto" Target="/ppt/slideMasters/udata/data.wdp" Id="R1fd8f7f9fbae4a07" /><Relationship Type="http://schemas.microsoft.com/office/2007/relationships/hdphoto" Target="/ppt/slideMasters/udata/data2.wdp" Id="Rc41ec87be1ae40b2" /><Relationship Type="http://schemas.openxmlformats.org/officeDocument/2006/relationships/theme" Target="/ppt/slideMasters/theme/theme1.xml" Id="R6563b0f31d554398" /><Relationship Type="http://schemas.openxmlformats.org/officeDocument/2006/relationships/slideLayout" Target="/ppt/slideLayouts/slideLayout5.xml" Id="R4ee11b3d2dca4780" /></Relationships>
</file>

<file path=ppt/slideMasters/slideMaster1.xml><?xml version="1.0" encoding="utf-8"?>
<p:sldMaster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1dea3d86c1ba436d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f6bd185511e44705">
            <a:extLst>
              <a:ext uri="{BEBA8EAE-BF5A-486C-A8C5-ECC9F3942E4B}">
                <a14:imgProps xmlns:a14="http://schemas.microsoft.com/office/drawing/2010/main">
                  <a14:imgLayer r:embed="R1fd8f7f9fbae4a0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5ef6825f581241cc">
            <a:extLst>
              <a:ext uri="{BEBA8EAE-BF5A-486C-A8C5-ECC9F3942E4B}">
                <a14:imgProps xmlns:a14="http://schemas.microsoft.com/office/drawing/2010/main">
                  <a14:imgLayer r:embed="Rc41ec87be1ae40b2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4ee11b3d2dca478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4.png" Id="Rfb38cfbf109a40c9" /><Relationship Type="http://schemas.openxmlformats.org/officeDocument/2006/relationships/image" Target="/ppt/media/image5.png" Id="R2e7f0a52326e4a7f" /><Relationship Type="http://schemas.microsoft.com/office/2007/relationships/hdphoto" Target="/ppt/slides/udata/data3.wdp" Id="Rdd332f3f2fe04175" /><Relationship Type="http://schemas.openxmlformats.org/officeDocument/2006/relationships/slideLayout" Target="/ppt/slideLayouts/slideLayout5.xml" Id="R1dc2d2f4db874d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d67e42e8e6f41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817e40057b14d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6787bc7710e47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19ac07c6bea4e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e644e5c363843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65ed85acff24b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0debd89a4874a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57c1bdd155a45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4.png" Id="Rf52dd79e68b648cd" /><Relationship Type="http://schemas.openxmlformats.org/officeDocument/2006/relationships/image" Target="/ppt/media/image5.png" Id="R6fbda91de44d4ca6" /><Relationship Type="http://schemas.microsoft.com/office/2007/relationships/hdphoto" Target="/ppt/slides/udata/data4.wdp" Id="R64583838e0164563" /><Relationship Type="http://schemas.openxmlformats.org/officeDocument/2006/relationships/slideLayout" Target="/ppt/slideLayouts/slideLayout5.xml" Id="R1d63991be7a044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2c89a72a4064e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95c578b65f24fb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903e06e618e4bb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1391bd3ebb14be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004378004f0495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0afb855bf5f49a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3c19f6f860c450d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lvl="0" algn="ctr">
              <a:defRPr/>
            </a:pPr>
            <a:r>
              <a:rPr lang="en-IN" sz="3600" dirty="0">
                <a:solidFill>
                  <a:schemeClr val="bg1"/>
                </a:solidFill>
              </a:rPr>
              <a:t>Hybrid Predictive-Generative Customer Retention: Integrating Tabular Churn Prediction with RAG-Powered Knowledge Retrieval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Swapnadeep Das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T9945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fb38cfbf109a40c9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2e7f0a52326e4a7f">
            <a:extLst>
              <a:ext uri="{BEBA8EAE-BF5A-486C-A8C5-ECC9F3942E4B}">
                <a14:imgProps xmlns:a14="http://schemas.microsoft.com/office/drawing/2010/main">
                  <a14:imgLayer r:embed="Rdd332f3f2fe0417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Customer Churn poses a severe revenue threat to the telecom industry.</a:t>
            </a:r>
          </a:p>
          <a:p>
            <a:pPr lvl="0"/>
            <a:r>
              <a:rPr lang="en-IN" sz="2400" dirty="0"/>
              <a:t>Traditional batch-processing models fail to provide real-time intervention opportunities.</a:t>
            </a:r>
          </a:p>
          <a:p>
            <a:pPr lvl="0"/>
            <a:r>
              <a:rPr lang="en-IN" sz="2400" dirty="0"/>
              <a:t>This project introduces an event-driven streaming architecture.</a:t>
            </a:r>
          </a:p>
          <a:p>
            <a:pPr lvl="0"/>
            <a:r>
              <a:rPr lang="en-IN" sz="2400" dirty="0"/>
              <a:t>It predicts churn on live telemetry data and uses Generative AI (Retrieval-Augmented Generation) to draft instant, policy-compliant retention offers.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Live Data Ingestion: </a:t>
            </a:r>
            <a:r>
              <a:rPr lang="en-IN" sz="2400" b="0" dirty="0"/>
              <a:t>Stream telecom telemetry using Apache Kafka.</a:t>
            </a:r>
          </a:p>
          <a:p>
            <a:pPr lvl="0"/>
            <a:r>
              <a:rPr lang="en-IN" sz="2400" dirty="0"/>
              <a:t>Real-time ML Inference: </a:t>
            </a:r>
            <a:r>
              <a:rPr lang="en-IN" sz="2400" b="0" dirty="0"/>
              <a:t>Predict churn probability and cluster customers dynamically.</a:t>
            </a:r>
          </a:p>
          <a:p>
            <a:pPr lvl="0"/>
            <a:r>
              <a:rPr lang="en-IN" sz="2400" dirty="0"/>
              <a:t>GenAI Intervention: </a:t>
            </a:r>
            <a:r>
              <a:rPr lang="en-IN" sz="2400" b="0" dirty="0"/>
              <a:t>Automate retention offer generation using local Llama 3 and </a:t>
            </a:r>
            <a:r>
              <a:rPr lang="en-IN" sz="2400" b="0" dirty="0" err="1"/>
              <a:t>ChromaDB</a:t>
            </a:r>
            <a:r>
              <a:rPr lang="en-IN" sz="2400" b="0" dirty="0"/>
              <a:t>.</a:t>
            </a:r>
          </a:p>
          <a:p>
            <a:pPr lvl="0"/>
            <a:r>
              <a:rPr lang="en-IN" sz="2400" dirty="0"/>
              <a:t>Zero-Latency UI: </a:t>
            </a:r>
            <a:r>
              <a:rPr lang="en-IN" sz="2400" b="0" dirty="0"/>
              <a:t>Build an asynchronous </a:t>
            </a:r>
            <a:r>
              <a:rPr lang="en-IN" sz="2400" b="0" dirty="0" err="1"/>
              <a:t>FastAPI</a:t>
            </a:r>
            <a:r>
              <a:rPr lang="en-IN" sz="2400" b="0" dirty="0"/>
              <a:t> dashboard to visualize insights without UI freezing.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Data Cleaning: </a:t>
            </a:r>
            <a:r>
              <a:rPr lang="en-IN" sz="2400" b="0" dirty="0"/>
              <a:t>Resolved hidden whitespace issues in the '</a:t>
            </a:r>
            <a:r>
              <a:rPr lang="en-IN" sz="2400" b="0" dirty="0" err="1"/>
              <a:t>TotalCharges</a:t>
            </a:r>
            <a:r>
              <a:rPr lang="en-IN" sz="2400" b="0" dirty="0"/>
              <a:t>' feature and enforced numeric conversion.</a:t>
            </a:r>
          </a:p>
          <a:p>
            <a:pPr lvl="0"/>
            <a:r>
              <a:rPr lang="en-IN" sz="2400" dirty="0"/>
              <a:t>Class Imbalance: </a:t>
            </a:r>
            <a:r>
              <a:rPr lang="en-IN" sz="2400" b="0" dirty="0"/>
              <a:t>Identified churn distribution (~73% Retained, ~27% Churned), requiring algorithmic weighting.</a:t>
            </a:r>
          </a:p>
          <a:p>
            <a:pPr lvl="0"/>
            <a:r>
              <a:rPr lang="en-IN" sz="2400" dirty="0"/>
              <a:t>Feature Engineering: </a:t>
            </a:r>
            <a:r>
              <a:rPr lang="en-IN" sz="2400" b="0" dirty="0"/>
              <a:t>Segregated numeric ('tenure', '</a:t>
            </a:r>
            <a:r>
              <a:rPr lang="en-IN" sz="2400" b="0" dirty="0" err="1"/>
              <a:t>MonthlyCharges</a:t>
            </a:r>
            <a:r>
              <a:rPr lang="en-IN" sz="2400" b="0" dirty="0"/>
              <a:t>') and categorical features.</a:t>
            </a:r>
          </a:p>
          <a:p>
            <a:pPr lvl="0"/>
            <a:r>
              <a:rPr lang="en-IN" sz="2400" dirty="0"/>
              <a:t>Pipeline Setup: </a:t>
            </a:r>
            <a:r>
              <a:rPr lang="en-IN" sz="2400" b="0" dirty="0"/>
              <a:t>Applied </a:t>
            </a:r>
            <a:r>
              <a:rPr lang="en-IN" b="0" dirty="0"/>
              <a:t>StandardScaler</a:t>
            </a:r>
            <a:r>
              <a:rPr lang="en-IN" sz="2400" b="0" dirty="0"/>
              <a:t> and </a:t>
            </a:r>
            <a:r>
              <a:rPr lang="en-IN" b="0" dirty="0"/>
              <a:t>OneHotEncoder</a:t>
            </a:r>
            <a:r>
              <a:rPr lang="en-IN" sz="2400" b="0" dirty="0"/>
              <a:t> via scikit-</a:t>
            </a:r>
            <a:r>
              <a:rPr lang="en-IN" sz="2400" b="0" dirty="0" err="1"/>
              <a:t>learn's</a:t>
            </a:r>
            <a:r>
              <a:rPr lang="en-IN" sz="2400" b="0" dirty="0"/>
              <a:t> </a:t>
            </a:r>
            <a:r>
              <a:rPr lang="en-IN" b="0" dirty="0"/>
              <a:t>ColumnTransformer</a:t>
            </a:r>
            <a:r>
              <a:rPr lang="en-IN" sz="2400" b="0" dirty="0"/>
              <a:t> for streamlined preprocessing.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 err="1"/>
              <a:t>XGBoost</a:t>
            </a:r>
            <a:r>
              <a:rPr lang="en-IN" sz="2400" dirty="0"/>
              <a:t> Classifier: </a:t>
            </a:r>
            <a:r>
              <a:rPr lang="en-IN" sz="2400" b="0" dirty="0"/>
              <a:t>Selected for its superior handling of tabular data and native </a:t>
            </a:r>
            <a:r>
              <a:rPr lang="en-IN" b="0" dirty="0"/>
              <a:t>scale_pos_weight</a:t>
            </a:r>
            <a:r>
              <a:rPr lang="en-IN" sz="2400" b="0" dirty="0"/>
              <a:t> parameter to combat class imbalance.</a:t>
            </a:r>
          </a:p>
          <a:p>
            <a:pPr lvl="0"/>
            <a:r>
              <a:rPr lang="en-IN" sz="2400" dirty="0"/>
              <a:t>Mini-Batch K-Means: </a:t>
            </a:r>
            <a:r>
              <a:rPr lang="en-IN" sz="2400" b="0" dirty="0"/>
              <a:t>Chosen over standard K-Means to allow incremental clustering on live streaming data.</a:t>
            </a:r>
          </a:p>
          <a:p>
            <a:pPr lvl="0"/>
            <a:r>
              <a:rPr lang="en-IN" sz="2400" dirty="0"/>
              <a:t>Local RAG (</a:t>
            </a:r>
            <a:r>
              <a:rPr lang="en-IN" sz="2400" dirty="0" err="1"/>
              <a:t>ChromaDB</a:t>
            </a:r>
            <a:r>
              <a:rPr lang="en-IN" sz="2400" dirty="0"/>
              <a:t> + Llama 3): </a:t>
            </a:r>
            <a:r>
              <a:rPr lang="en-IN" sz="2400" b="0" dirty="0"/>
              <a:t>Selected local deployment via </a:t>
            </a:r>
            <a:r>
              <a:rPr lang="en-IN" sz="2400" b="0" dirty="0" err="1"/>
              <a:t>Ollama</a:t>
            </a:r>
            <a:r>
              <a:rPr lang="en-IN" sz="2400" b="0" dirty="0"/>
              <a:t> instead of cloud APIs to ensure strict enterprise data privacy and security.</a:t>
            </a:r>
          </a:p>
          <a:p>
            <a:pPr lvl="0"/>
            <a:r>
              <a:rPr lang="en-IN" sz="2400" dirty="0" err="1"/>
              <a:t>FastAPI</a:t>
            </a:r>
            <a:r>
              <a:rPr lang="en-IN" sz="2400" dirty="0"/>
              <a:t> &amp; SSE: </a:t>
            </a:r>
            <a:r>
              <a:rPr lang="en-IN" sz="2400" b="0" dirty="0"/>
              <a:t>Chosen over </a:t>
            </a:r>
            <a:r>
              <a:rPr lang="en-IN" sz="2400" b="0" dirty="0" err="1"/>
              <a:t>Streamlit</a:t>
            </a:r>
            <a:r>
              <a:rPr lang="en-IN" sz="2400" b="0" dirty="0"/>
              <a:t> to enable asynchronous background tasks, preventing UI blocking during LLM inference.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Message Broker: </a:t>
            </a:r>
            <a:r>
              <a:rPr lang="en-IN" sz="2400" b="0" dirty="0"/>
              <a:t>Apache Kafka (Confluent-Kafka client)</a:t>
            </a:r>
          </a:p>
          <a:p>
            <a:pPr lvl="0"/>
            <a:r>
              <a:rPr lang="en-IN" sz="2400" dirty="0"/>
              <a:t>Backend Framework: </a:t>
            </a:r>
            <a:r>
              <a:rPr lang="en-IN" sz="2400" b="0" dirty="0" err="1"/>
              <a:t>FastAPI</a:t>
            </a:r>
            <a:r>
              <a:rPr lang="en-IN" sz="2400" b="0" dirty="0"/>
              <a:t>, </a:t>
            </a:r>
            <a:r>
              <a:rPr lang="en-IN" sz="2400" b="0" dirty="0" err="1"/>
              <a:t>Uvicorn</a:t>
            </a:r>
            <a:r>
              <a:rPr lang="en-IN" sz="2400" b="0" dirty="0"/>
              <a:t>, Python </a:t>
            </a:r>
            <a:r>
              <a:rPr lang="en-IN" b="0" dirty="0"/>
              <a:t>asyncio</a:t>
            </a:r>
            <a:endParaRPr lang="en-IN" sz="2400" b="0" dirty="0"/>
          </a:p>
          <a:p>
            <a:pPr lvl="0"/>
            <a:r>
              <a:rPr lang="en-IN" sz="2400" dirty="0"/>
              <a:t>Machine Learning: </a:t>
            </a:r>
            <a:r>
              <a:rPr lang="en-IN" sz="2400" b="0" dirty="0"/>
              <a:t>scikit-learn, </a:t>
            </a:r>
            <a:r>
              <a:rPr lang="en-IN" sz="2400" b="0" dirty="0" err="1"/>
              <a:t>XGBoost</a:t>
            </a:r>
            <a:endParaRPr lang="en-IN" sz="2400" b="0" dirty="0"/>
          </a:p>
          <a:p>
            <a:pPr lvl="0"/>
            <a:r>
              <a:rPr lang="en-IN" sz="2400" dirty="0"/>
              <a:t>Generative AI: </a:t>
            </a:r>
            <a:r>
              <a:rPr lang="en-IN" sz="2400" b="0" dirty="0" err="1"/>
              <a:t>Ollama</a:t>
            </a:r>
            <a:r>
              <a:rPr lang="en-IN" sz="2400" b="0" dirty="0"/>
              <a:t> (Llama 3 - 8B), </a:t>
            </a:r>
            <a:r>
              <a:rPr lang="en-IN" b="0" dirty="0"/>
              <a:t>nomic-embed-text</a:t>
            </a:r>
            <a:endParaRPr lang="en-IN" sz="2400" b="0" dirty="0"/>
          </a:p>
          <a:p>
            <a:pPr lvl="0"/>
            <a:r>
              <a:rPr lang="en-IN" sz="2400" dirty="0"/>
              <a:t>Vector Database: </a:t>
            </a:r>
            <a:r>
              <a:rPr lang="en-IN" sz="2400" b="0" dirty="0" err="1"/>
              <a:t>ChromaDB</a:t>
            </a:r>
            <a:r>
              <a:rPr lang="en-IN" sz="2400" b="0" dirty="0"/>
              <a:t> (Persistent local storage)</a:t>
            </a:r>
          </a:p>
          <a:p>
            <a:pPr lvl="0"/>
            <a:r>
              <a:rPr lang="en-IN" sz="2400" dirty="0"/>
              <a:t>Frontend UI: </a:t>
            </a:r>
            <a:r>
              <a:rPr lang="en-IN" sz="2400" b="0" dirty="0"/>
              <a:t>HTML5, CSS3, Vanilla JS, Chart.js (Server-Sent Events)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dirty="0"/>
              <a:t>Step 1: </a:t>
            </a:r>
            <a:r>
              <a:rPr lang="en-IN" sz="2400" b="0" dirty="0"/>
              <a:t>Kafka Producer streams JSON customer events.</a:t>
            </a:r>
          </a:p>
          <a:p>
            <a:pPr lvl="0"/>
            <a:r>
              <a:rPr lang="en-IN" sz="2400" dirty="0"/>
              <a:t>Step 2: </a:t>
            </a:r>
            <a:r>
              <a:rPr lang="en-IN" sz="2400" b="0" dirty="0" err="1"/>
              <a:t>FastAPI</a:t>
            </a:r>
            <a:r>
              <a:rPr lang="en-IN" sz="2400" b="0" dirty="0"/>
              <a:t> Kafka Reader asynchronously polls events.</a:t>
            </a:r>
          </a:p>
          <a:p>
            <a:pPr lvl="0"/>
            <a:r>
              <a:rPr lang="en-IN" sz="2400" dirty="0"/>
              <a:t>Step 3: </a:t>
            </a:r>
            <a:r>
              <a:rPr lang="en-IN" sz="2400" b="0" dirty="0" err="1"/>
              <a:t>XGBoost</a:t>
            </a:r>
            <a:r>
              <a:rPr lang="en-IN" sz="2400" b="0" dirty="0"/>
              <a:t> computes P(Churn) &amp; K-Means assigns segments.</a:t>
            </a:r>
          </a:p>
          <a:p>
            <a:pPr lvl="0"/>
            <a:r>
              <a:rPr lang="en-IN" sz="2400" dirty="0"/>
              <a:t>Step 4: </a:t>
            </a:r>
            <a:r>
              <a:rPr lang="en-IN" sz="2400" b="0" dirty="0"/>
              <a:t>If P(Churn) &gt;= 0.70, </a:t>
            </a:r>
            <a:r>
              <a:rPr lang="en-IN" sz="2400" b="0" dirty="0" err="1"/>
              <a:t>ChromaDB</a:t>
            </a:r>
            <a:r>
              <a:rPr lang="en-IN" sz="2400" b="0" dirty="0"/>
              <a:t> retrieves relevant SLA policy.</a:t>
            </a:r>
          </a:p>
          <a:p>
            <a:pPr lvl="0"/>
            <a:r>
              <a:rPr lang="en-IN" sz="2400" dirty="0"/>
              <a:t>Step 5: </a:t>
            </a:r>
            <a:r>
              <a:rPr lang="en-IN" sz="2400" b="0" dirty="0"/>
              <a:t>Background task triggers Llama 3 for offer generation.</a:t>
            </a:r>
          </a:p>
          <a:p>
            <a:pPr lvl="0"/>
            <a:r>
              <a:rPr lang="en-IN" sz="2400" dirty="0"/>
              <a:t>Step 6: </a:t>
            </a:r>
            <a:r>
              <a:rPr lang="en-IN" sz="2400" b="0" dirty="0"/>
              <a:t>Dashboard instantly updates charts and renders AI offers asynchronously.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en-IN" sz="2400" dirty="0">
                <a:highlight>
                  <a:srgbClr val="FFFFFF"/>
                </a:highlight>
              </a:rPr>
              <a:t>ML Metrics: </a:t>
            </a:r>
            <a:r>
              <a:rPr lang="en-IN" sz="2400" b="0" dirty="0">
                <a:highlight>
                  <a:srgbClr val="FFFFFF"/>
                </a:highlight>
              </a:rPr>
              <a:t>Baseline </a:t>
            </a:r>
            <a:r>
              <a:rPr lang="en-IN" sz="2400" b="0" dirty="0" err="1">
                <a:highlight>
                  <a:srgbClr val="FFFFFF"/>
                </a:highlight>
              </a:rPr>
              <a:t>XGBoost</a:t>
            </a:r>
            <a:r>
              <a:rPr lang="en-IN" sz="2400" b="0" dirty="0">
                <a:highlight>
                  <a:srgbClr val="FFFFFF"/>
                </a:highlight>
              </a:rPr>
              <a:t> model achieved robust classification performance with a weighted evaluation metric handling the 73:27 imbalance.</a:t>
            </a:r>
          </a:p>
          <a:p>
            <a:pPr lvl="0"/>
            <a:r>
              <a:rPr lang="en-IN" sz="2400" dirty="0">
                <a:highlight>
                  <a:srgbClr val="FFFFFF"/>
                </a:highlight>
              </a:rPr>
              <a:t>Latency Optimization: </a:t>
            </a:r>
            <a:r>
              <a:rPr lang="en-IN" sz="2400" b="0" dirty="0">
                <a:highlight>
                  <a:srgbClr val="FFFFFF"/>
                </a:highlight>
              </a:rPr>
              <a:t>Transitioned from a synchronous UI to </a:t>
            </a:r>
            <a:r>
              <a:rPr lang="en-IN" sz="2400" b="0" dirty="0" err="1">
                <a:highlight>
                  <a:srgbClr val="FFFFFF"/>
                </a:highlight>
              </a:rPr>
              <a:t>FastAPI</a:t>
            </a:r>
            <a:r>
              <a:rPr lang="en-IN" sz="2400" b="0" dirty="0">
                <a:highlight>
                  <a:srgbClr val="FFFFFF"/>
                </a:highlight>
              </a:rPr>
              <a:t>, reducing metric update latency to &lt;0.1 seconds.</a:t>
            </a:r>
          </a:p>
          <a:p>
            <a:pPr lvl="0"/>
            <a:r>
              <a:rPr lang="en-IN" sz="2400" dirty="0">
                <a:highlight>
                  <a:srgbClr val="FFFFFF"/>
                </a:highlight>
              </a:rPr>
              <a:t>LLM Isolation: </a:t>
            </a:r>
            <a:r>
              <a:rPr lang="en-IN" sz="2400" b="0" dirty="0">
                <a:highlight>
                  <a:srgbClr val="FFFFFF"/>
                </a:highlight>
              </a:rPr>
              <a:t>Implemented non-blocking background tasks, successfully isolating the 5-10 second Llama 3 generation time from the main Kafka stream.</a:t>
            </a:r>
          </a:p>
          <a:p>
            <a:pPr lvl="0"/>
            <a:r>
              <a:rPr lang="en-IN" sz="2400" dirty="0">
                <a:highlight>
                  <a:srgbClr val="FFFFFF"/>
                </a:highlight>
              </a:rPr>
              <a:t>UI Delivery: </a:t>
            </a:r>
            <a:r>
              <a:rPr lang="en-IN" sz="2400" b="0" dirty="0">
                <a:highlight>
                  <a:srgbClr val="FFFFFF"/>
                </a:highlight>
              </a:rPr>
              <a:t>Successfully rendering an actionable queue of the latest 15 high-risk customers with dynamically generated text.</a:t>
            </a:r>
          </a:p>
          <a:p>
            <a:pPr marL="0" indent="0">
              <a:buNone/>
            </a:pP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Intermediate results &amp; Evaluation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/>
              <a:t>Completed Milestones:</a:t>
            </a:r>
          </a:p>
          <a:p>
            <a:pPr lvl="0"/>
            <a:r>
              <a:rPr lang="en-IN" sz="2400" b="0" dirty="0"/>
              <a:t>Data Preprocessing &amp; </a:t>
            </a:r>
            <a:r>
              <a:rPr lang="en-IN" sz="2400" b="0" dirty="0" err="1"/>
              <a:t>XGBoost</a:t>
            </a:r>
            <a:r>
              <a:rPr lang="en-IN" sz="2400" b="0" dirty="0"/>
              <a:t> Pipeline Export</a:t>
            </a:r>
          </a:p>
          <a:p>
            <a:pPr lvl="0"/>
            <a:r>
              <a:rPr lang="en-IN" sz="2400" b="0" dirty="0"/>
              <a:t>Apache Kafka Producer-Consumer integration</a:t>
            </a:r>
          </a:p>
          <a:p>
            <a:pPr lvl="0"/>
            <a:r>
              <a:rPr lang="en-IN" sz="2400" b="0" dirty="0"/>
              <a:t>RAG Vector Indexing (</a:t>
            </a:r>
            <a:r>
              <a:rPr lang="en-IN" sz="2400" b="0" dirty="0" err="1"/>
              <a:t>ChromaDB</a:t>
            </a:r>
            <a:r>
              <a:rPr lang="en-IN" sz="2400" b="0" dirty="0"/>
              <a:t>)</a:t>
            </a:r>
          </a:p>
          <a:p>
            <a:pPr lvl="0"/>
            <a:r>
              <a:rPr lang="en-IN" sz="2400" b="0" dirty="0"/>
              <a:t>Asynchronous Dashboard &amp; Two-Column UI deployment</a:t>
            </a:r>
          </a:p>
          <a:p>
            <a:pPr marL="0" indent="0"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milestones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progress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600" dirty="0">
                <a:solidFill>
                  <a:schemeClr val="bg1"/>
                </a:solidFill>
              </a:rPr>
              <a:t>Data Narrator: Multi-Agent NL-to-SQL BI Copilot with Autonomous Self-Correction and Insights</a:t>
            </a:r>
            <a:endParaRPr lang="en-US" sz="36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Swapnadeep Das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T9945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f52dd79e68b648cd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6fbda91de44d4ca6">
            <a:extLst>
              <a:ext uri="{BEBA8EAE-BF5A-486C-A8C5-ECC9F3942E4B}">
                <a14:imgProps xmlns:a14="http://schemas.microsoft.com/office/drawing/2010/main">
                  <a14:imgLayer r:embed="R64583838e016456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Developing a completely offline, privacy-first AI system to extract data from enterprise databases using Natural Language. </a:t>
            </a:r>
          </a:p>
          <a:p>
            <a:pPr lvl="0"/>
            <a:r>
              <a:rPr lang="en-IN" dirty="0"/>
              <a:t>Moving beyond the basic prompt engineering of and implements a robust multi-agent architecture using 'LangGraph'.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To generate accurate SQL queries using a local LLM, ensuring 100% data privacy. </a:t>
            </a:r>
          </a:p>
          <a:p>
            <a:pPr lvl="0"/>
            <a:r>
              <a:rPr lang="en-IN" dirty="0"/>
              <a:t>To build a Self-Correction mechanism where the AI can autonomously detect database execution errors and rewrite the query. </a:t>
            </a:r>
          </a:p>
          <a:p>
            <a:pPr lvl="0"/>
            <a:r>
              <a:rPr lang="en-IN" dirty="0"/>
              <a:t>To dynamically generate interactive visualizations from raw data based on user requests.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LLM Model (Llama 3.1 - 8B): Selected to ensure completely offline inference and zero data leakage. </a:t>
            </a:r>
          </a:p>
          <a:p>
            <a:pPr lvl="0"/>
            <a:r>
              <a:rPr lang="en-IN" dirty="0"/>
              <a:t>Architecture (LangGraph): Utilized to create a cyclic loop instead of a linear prompt chain, which is essential for error-handling and self-healing. </a:t>
            </a:r>
          </a:p>
          <a:p>
            <a:pPr lvl="0"/>
            <a:r>
              <a:rPr lang="en-IN" dirty="0"/>
              <a:t>UI &amp; Visualization (Streamlit &amp; Plotly): Chosen to build a real-time enterprise dashboard and interactive graphs (Bar, Pie, Line).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Successfully migrated the database from a basic mock setup to a complex 6-table relational enterprise ERP schema (Regions, Departments, Employees, Customers, Products, Sales). </a:t>
            </a:r>
          </a:p>
          <a:p>
            <a:pPr lvl="0"/>
            <a:r>
              <a:rPr lang="en-IN" dirty="0"/>
              <a:t>Generated and injected over 10,000 realistic transaction records using Python Faker to stress-test the model's logic and JOIN operations. </a:t>
            </a:r>
          </a:p>
          <a:p>
            <a:pPr lvl="0"/>
            <a:r>
              <a:rPr lang="en-IN" dirty="0"/>
              <a:t>Insights: Initial runs demonstrate that the multi-agent loop processes complex data much more accurately than standard SQL generation.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Approach: Intent Detection &amp; Regex JSON Parsing. Our visualization agent (Agent 4) determines from the user's prompt whether to provide a text response or parse JSON to render a chart. </a:t>
            </a:r>
          </a:p>
          <a:p>
            <a:pPr lvl="0"/>
            <a:r>
              <a:rPr lang="en-IN" dirty="0"/>
              <a:t>Tools Used: Python, LangChain, LangGraph, PostgreSQL, Pandas, Plotly, Streamlit.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Phase 1 (Completed): Llama 3.1 local setup, PostgreSQL connection, and basic Text-to-SQL generation. </a:t>
            </a:r>
          </a:p>
          <a:p>
            <a:pPr lvl="0"/>
            <a:r>
              <a:rPr lang="en-IN" dirty="0"/>
              <a:t>Phase 2 (Completed): LangGraph self-correction loop, Summarization Node, Streamlit Chat UI, and Agent 4 (Plotly Data Visualization) integration. </a:t>
            </a:r>
          </a:p>
          <a:p>
            <a:pPr lvl="0"/>
            <a:r>
              <a:rPr lang="en-IN" dirty="0"/>
              <a:t>Phase 3 (Pending): Docker containerization and final system architecture optimization.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milestones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progress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Node 1 (Coder): Analyzes the enterprise schema and generates raw SQL. </a:t>
            </a:r>
          </a:p>
          <a:p>
            <a:pPr lvl="0"/>
            <a:r>
              <a:rPr lang="en-IN" dirty="0"/>
              <a:t>Node 2 (Executor): Executes the SQL to create a Pandas DataFrame (automatically routes back to Node 1 if an error occurs). </a:t>
            </a:r>
          </a:p>
          <a:p>
            <a:pPr lvl="0"/>
            <a:r>
              <a:rPr lang="en-IN" dirty="0"/>
              <a:t>Node 3 (Visualizer - Agent 4): Generates dynamic Plotly figures from the DataFrame. </a:t>
            </a:r>
          </a:p>
          <a:p>
            <a:pPr lvl="0"/>
            <a:r>
              <a:rPr lang="en-IN" dirty="0"/>
              <a:t>Node 4 (Summarizer): Creates human-like, conversational answers from the raw database output.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613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(Body)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Presentation</dc:title>
  <dc:creator>HARI PRASATH</dc:creator>
  <lastModifiedBy>Swapnadeep Das</lastModifiedBy>
  <revision>13</revision>
  <dcterms:created xsi:type="dcterms:W3CDTF">2024-05-13T10:33:11.0000000Z</dcterms:created>
  <dcterms:modified xsi:type="dcterms:W3CDTF">2026-09-29T17:44:12.3070000Z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/>
</file>